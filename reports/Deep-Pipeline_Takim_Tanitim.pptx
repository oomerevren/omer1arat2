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3108960" cy="3108960"/>
          </a:xfrm>
          <a:prstGeom prst="ellipse">
            <a:avLst/>
          </a:prstGeom>
          <a:solidFill>
            <a:srgbClr val="16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937760"/>
            <a:ext cx="3017520" cy="3017520"/>
          </a:xfrm>
          <a:prstGeom prst="ellipse">
            <a:avLst/>
          </a:prstGeom>
          <a:solidFill>
            <a:srgbClr val="24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28600"/>
            <a:ext cx="1536192" cy="384048"/>
          </a:xfrm>
          <a:prstGeom prst="roundRect">
            <a:avLst/>
          </a:prstGeom>
          <a:solidFill>
            <a:srgbClr val="1025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Deep-Pipeline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D"/>
                </a:solidFill>
                <a:latin typeface="Aptos"/>
              </a:defRPr>
            </a:pPr>
            <a:r>
              <a:t>TEKNOFEST 2026 E-Ticaret Hackathonu  •  Takım Tanıtım Dosyası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515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8FF"/>
                </a:solidFill>
                <a:latin typeface="Aptos"/>
              </a:defRPr>
            </a:pPr>
            <a:r>
              <a:t>DEEP-PIPELINE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27632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Aptos"/>
              </a:defRPr>
            </a:pPr>
            <a:r>
              <a:t>E-Ticaret Arama Alaka Düzeyi için Uçtan Uca Açıklanabilir ML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FCD"/>
                </a:solidFill>
                <a:latin typeface="Aptos"/>
              </a:defRPr>
            </a:pPr>
            <a:r>
              <a:t>TEKNOFEST 2026 E-Ticaret Hackathonu kapsamında; Türkçe e-ticaret metinlerinde sorgu–ürün ilişkisinin daha doğru, hızlı ve açıklanabilir sınıflandırılması.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71800"/>
            <a:ext cx="2103120" cy="384048"/>
          </a:xfrm>
          <a:prstGeom prst="roundRect">
            <a:avLst/>
          </a:prstGeom>
          <a:solidFill>
            <a:srgbClr val="144E5C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Türkçe NLP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971800"/>
            <a:ext cx="2468880" cy="384048"/>
          </a:xfrm>
          <a:prstGeom prst="roundRect">
            <a:avLst/>
          </a:prstGeom>
          <a:solidFill>
            <a:srgbClr val="25295C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Cross-Encoder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971800"/>
            <a:ext cx="1828800" cy="384048"/>
          </a:xfrm>
          <a:prstGeom prst="roundRect">
            <a:avLst/>
          </a:prstGeom>
          <a:solidFill>
            <a:srgbClr val="144E5C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XAI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971800"/>
            <a:ext cx="2651760" cy="384048"/>
          </a:xfrm>
          <a:prstGeom prst="roundRect">
            <a:avLst/>
          </a:prstGeom>
          <a:solidFill>
            <a:srgbClr val="3A301C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MLOps + Docker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1920240" cy="96012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86200"/>
            <a:ext cx="54864" cy="9601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023360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 Display"/>
              </a:defRPr>
            </a:pPr>
            <a:r>
              <a:t>Veri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41655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0AFCD"/>
                </a:solidFill>
                <a:latin typeface="Aptos"/>
              </a:defRPr>
            </a:pPr>
            <a:r>
              <a:t>EDA &amp; normalize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370832"/>
            <a:ext cx="457200" cy="0"/>
          </a:xfrm>
          <a:prstGeom prst="line">
            <a:avLst/>
          </a:prstGeom>
          <a:ln w="25400">
            <a:solidFill>
              <a:srgbClr val="A0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37560" y="3886200"/>
            <a:ext cx="1920240" cy="96012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3886200"/>
            <a:ext cx="54864" cy="960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02152" y="4023360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 Display"/>
              </a:defRPr>
            </a:pPr>
            <a:r>
              <a:t>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441655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0AFCD"/>
                </a:solidFill>
                <a:latin typeface="Aptos"/>
              </a:defRPr>
            </a:pPr>
            <a:r>
              <a:t>CE + ensemble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76088" y="4370832"/>
            <a:ext cx="457200" cy="0"/>
          </a:xfrm>
          <a:prstGeom prst="line">
            <a:avLst/>
          </a:prstGeom>
          <a:ln w="25400">
            <a:solidFill>
              <a:srgbClr val="A0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760720" y="3886200"/>
            <a:ext cx="1920240" cy="96012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0720" y="3886200"/>
            <a:ext cx="54864" cy="960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25312" y="4023360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 Display"/>
              </a:defRPr>
            </a:pPr>
            <a:r>
              <a:t>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41655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0AFCD"/>
                </a:solidFill>
                <a:latin typeface="Aptos"/>
              </a:defRPr>
            </a:pPr>
            <a:r>
              <a:t>FastAPI + XAI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99248" y="4370832"/>
            <a:ext cx="457200" cy="0"/>
          </a:xfrm>
          <a:prstGeom prst="line">
            <a:avLst/>
          </a:prstGeom>
          <a:ln w="25400">
            <a:solidFill>
              <a:srgbClr val="A0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83879" y="3886200"/>
            <a:ext cx="1920240" cy="96012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886200"/>
            <a:ext cx="54864" cy="96012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1" y="4023360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 Display"/>
              </a:defRPr>
            </a:pPr>
            <a:r>
              <a:t>Sunum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441655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0AFCD"/>
                </a:solidFill>
                <a:latin typeface="Aptos"/>
              </a:defRPr>
            </a:pPr>
            <a:r>
              <a:t>Jüri demosu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71500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Takım: Ömer Mahmut Evren • Ahmet Arat Turmuş • Danışman: Mustafa Gökmen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0167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FCD"/>
                </a:solidFill>
                <a:latin typeface="Aptos"/>
              </a:defRPr>
            </a:pPr>
            <a:r>
              <a:t>Tarih: 18 Haziran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3108960" cy="3108960"/>
          </a:xfrm>
          <a:prstGeom prst="ellipse">
            <a:avLst/>
          </a:prstGeom>
          <a:solidFill>
            <a:srgbClr val="16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937760"/>
            <a:ext cx="3017520" cy="3017520"/>
          </a:xfrm>
          <a:prstGeom prst="ellipse">
            <a:avLst/>
          </a:prstGeom>
          <a:solidFill>
            <a:srgbClr val="24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28600"/>
            <a:ext cx="1536192" cy="384048"/>
          </a:xfrm>
          <a:prstGeom prst="roundRect">
            <a:avLst/>
          </a:prstGeom>
          <a:solidFill>
            <a:srgbClr val="1025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Deep-Pipeline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D"/>
                </a:solidFill>
                <a:latin typeface="Aptos"/>
              </a:defRPr>
            </a:pPr>
            <a:r>
              <a:t>TEKNOFEST 2026 E-Ticaret Hackathonu  •  Takım Tanıtım Dosyası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 Display"/>
              </a:defRPr>
            </a:pPr>
            <a:r>
              <a:t>Problem ve Vizyon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533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FCD"/>
                </a:solidFill>
                <a:latin typeface="Aptos"/>
              </a:defRPr>
            </a:pPr>
            <a:r>
              <a:t>E-ticarette kullanıcı sorgusu ile ürün içeriği arasındaki anlam eşleşmesini güçlendirmek.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28800"/>
            <a:ext cx="3429000" cy="274320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828800"/>
            <a:ext cx="54864" cy="2743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9659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F"/>
                </a:solidFill>
                <a:latin typeface="Aptos Display"/>
              </a:defRPr>
            </a:pPr>
            <a:r>
              <a:t>Yarışma Problemi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359152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A0AFCD"/>
                </a:solidFill>
                <a:latin typeface="Aptos"/>
              </a:defRPr>
            </a:pPr>
            <a:r>
              <a:t>Kullanıcı sorgusu ile ürün başlığı / marka / kategori / özellikler arasında alaka düzeyini sınıflandırmak.</a:t>
            </a:r>
          </a:p>
          <a:p>
            <a:pPr>
              <a:spcAft>
                <a:spcPts val="300"/>
              </a:spcAft>
              <a:defRPr sz="1200">
                <a:solidFill>
                  <a:srgbClr val="A0AFCD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A0AFCD"/>
                </a:solidFill>
                <a:latin typeface="Aptos"/>
              </a:defRPr>
            </a:pPr>
            <a:r>
              <a:t>Hedef: “Alakasız”, “Kısmen Alakalı”, “Çok Alakalı” kararını tutarlı üretmek.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828800"/>
            <a:ext cx="3429000" cy="274320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828800"/>
            <a:ext cx="54864" cy="2743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9659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F"/>
                </a:solidFill>
                <a:latin typeface="Aptos Display"/>
              </a:defRPr>
            </a:pPr>
            <a:r>
              <a:t>Neden Zor?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359152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A0AFCD"/>
                </a:solidFill>
                <a:latin typeface="Aptos"/>
              </a:defRPr>
            </a:pPr>
            <a:r>
              <a:t>• Türkçe ekler, yazım hataları ve kısaltmalar</a:t>
            </a:r>
          </a:p>
          <a:p>
            <a:pPr>
              <a:spcAft>
                <a:spcPts val="300"/>
              </a:spcAft>
              <a:defRPr sz="1200">
                <a:solidFill>
                  <a:srgbClr val="A0AFCD"/>
                </a:solidFill>
                <a:latin typeface="Aptos"/>
              </a:defRPr>
            </a:pPr>
            <a:r>
              <a:t>• Marka–kategori çakışmaları</a:t>
            </a:r>
          </a:p>
          <a:p>
            <a:pPr>
              <a:spcAft>
                <a:spcPts val="300"/>
              </a:spcAft>
              <a:defRPr sz="1200">
                <a:solidFill>
                  <a:srgbClr val="A0AFCD"/>
                </a:solidFill>
                <a:latin typeface="Aptos"/>
              </a:defRPr>
            </a:pPr>
            <a:r>
              <a:t>• Benzer başlıklı ama farklı niyetli ürünler</a:t>
            </a:r>
          </a:p>
          <a:p>
            <a:pPr>
              <a:spcAft>
                <a:spcPts val="300"/>
              </a:spcAft>
              <a:defRPr sz="1200">
                <a:solidFill>
                  <a:srgbClr val="A0AFCD"/>
                </a:solidFill>
                <a:latin typeface="Aptos"/>
              </a:defRPr>
            </a:pPr>
            <a:r>
              <a:t>• Macro-F1 dengesinde sınıf ayrımı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828800"/>
            <a:ext cx="3429000" cy="274320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828800"/>
            <a:ext cx="54864" cy="2743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19659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F"/>
                </a:solidFill>
                <a:latin typeface="Aptos Display"/>
              </a:defRPr>
            </a:pPr>
            <a:r>
              <a:t>Bizim Vizyonumuz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359152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A0AFCD"/>
                </a:solidFill>
                <a:latin typeface="Aptos"/>
              </a:defRPr>
            </a:pPr>
            <a:r>
              <a:t>Sadece yüksek skor alan değil; jüriye nasıl karar verdiğini gösterebilen, tekrarlanabilir ve üretime taşınabilir bir sistem.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8FF"/>
                </a:solidFill>
                <a:latin typeface="Aptos"/>
              </a:defRPr>
            </a:pPr>
            <a:r>
              <a:t>Deep-Pipeline: Kaggle performansı + açıklanabilir final demo + mühendislik kanıtı üçlüsünü aynı dosya yapısında birleştirir.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3108960" cy="3108960"/>
          </a:xfrm>
          <a:prstGeom prst="ellipse">
            <a:avLst/>
          </a:prstGeom>
          <a:solidFill>
            <a:srgbClr val="16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937760"/>
            <a:ext cx="3017520" cy="3017520"/>
          </a:xfrm>
          <a:prstGeom prst="ellipse">
            <a:avLst/>
          </a:prstGeom>
          <a:solidFill>
            <a:srgbClr val="24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28600"/>
            <a:ext cx="1536192" cy="384048"/>
          </a:xfrm>
          <a:prstGeom prst="roundRect">
            <a:avLst/>
          </a:prstGeom>
          <a:solidFill>
            <a:srgbClr val="1025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Deep-Pipeline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D"/>
                </a:solidFill>
                <a:latin typeface="Aptos"/>
              </a:defRPr>
            </a:pPr>
            <a:r>
              <a:t>TEKNOFEST 2026 E-Ticaret Hackathonu  •  Takım Tanıtım Dosyası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 Display"/>
              </a:defRPr>
            </a:pPr>
            <a:r>
              <a:t>Çözüm Özeti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533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FCD"/>
                </a:solidFill>
                <a:latin typeface="Aptos"/>
              </a:defRPr>
            </a:pPr>
            <a:r>
              <a:t>Veriden sunuma kadar tek giriş noktası olan profesyonel bir ML sistemi.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1627632" cy="19202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54864" cy="19202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011679"/>
            <a:ext cx="1307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01</a:t>
            </a:r>
            <a:br/>
            <a:r>
              <a:t>Veri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04872"/>
            <a:ext cx="1307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A0AFCD"/>
                </a:solidFill>
                <a:latin typeface="Aptos"/>
              </a:defRPr>
            </a:pPr>
            <a:r>
              <a:t>train/test hazırlama</a:t>
            </a:r>
          </a:p>
          <a:p>
            <a:pPr>
              <a:spcAft>
                <a:spcPts val="300"/>
              </a:spcAft>
              <a:defRPr sz="950">
                <a:solidFill>
                  <a:srgbClr val="A0AFCD"/>
                </a:solidFill>
                <a:latin typeface="Aptos"/>
              </a:defRPr>
            </a:pPr>
            <a:r>
              <a:t>normalize labels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2834640"/>
            <a:ext cx="256032" cy="0"/>
          </a:xfrm>
          <a:prstGeom prst="line">
            <a:avLst/>
          </a:prstGeom>
          <a:ln w="21590">
            <a:solidFill>
              <a:srgbClr val="A0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468880" y="1874519"/>
            <a:ext cx="1627632" cy="19202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0" y="1874519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3472" y="2011679"/>
            <a:ext cx="1307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02</a:t>
            </a:r>
            <a:br/>
            <a:r>
              <a:t>Ön İşleme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2404872"/>
            <a:ext cx="1307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A0AFCD"/>
                </a:solidFill>
                <a:latin typeface="Aptos"/>
              </a:defRPr>
            </a:pPr>
            <a:r>
              <a:t>Türkçe lower</a:t>
            </a:r>
          </a:p>
          <a:p>
            <a:pPr>
              <a:spcAft>
                <a:spcPts val="300"/>
              </a:spcAft>
              <a:defRPr sz="950">
                <a:solidFill>
                  <a:srgbClr val="A0AFCD"/>
                </a:solidFill>
                <a:latin typeface="Aptos"/>
              </a:defRPr>
            </a:pPr>
            <a:r>
              <a:t>SymSpell + Zeyrek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2834640"/>
            <a:ext cx="256032" cy="0"/>
          </a:xfrm>
          <a:prstGeom prst="line">
            <a:avLst/>
          </a:prstGeom>
          <a:ln w="21590">
            <a:solidFill>
              <a:srgbClr val="A0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89120" y="1874519"/>
            <a:ext cx="1627632" cy="19202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1874519"/>
            <a:ext cx="54864" cy="192024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2011679"/>
            <a:ext cx="1307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03</a:t>
            </a:r>
            <a:br/>
            <a:r>
              <a:t>Özellik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404872"/>
            <a:ext cx="1307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A0AFCD"/>
                </a:solidFill>
                <a:latin typeface="Aptos"/>
              </a:defRPr>
            </a:pPr>
            <a:r>
              <a:t>BM25, marka, kategori</a:t>
            </a:r>
          </a:p>
          <a:p>
            <a:pPr>
              <a:spcAft>
                <a:spcPts val="300"/>
              </a:spcAft>
              <a:defRPr sz="950">
                <a:solidFill>
                  <a:srgbClr val="A0AFCD"/>
                </a:solidFill>
                <a:latin typeface="Aptos"/>
              </a:defRPr>
            </a:pPr>
            <a:r>
              <a:t>fuzzy matching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5040" y="2834640"/>
            <a:ext cx="256032" cy="0"/>
          </a:xfrm>
          <a:prstGeom prst="line">
            <a:avLst/>
          </a:prstGeom>
          <a:ln w="21590">
            <a:solidFill>
              <a:srgbClr val="A0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09360" y="1874519"/>
            <a:ext cx="1627632" cy="19202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874519"/>
            <a:ext cx="54864" cy="19202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2011679"/>
            <a:ext cx="1307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04</a:t>
            </a:r>
            <a:br/>
            <a: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404872"/>
            <a:ext cx="1307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A0AFCD"/>
                </a:solidFill>
                <a:latin typeface="Aptos"/>
              </a:defRPr>
            </a:pPr>
            <a:r>
              <a:t>DistilBERTurk CE</a:t>
            </a:r>
          </a:p>
          <a:p>
            <a:pPr>
              <a:spcAft>
                <a:spcPts val="300"/>
              </a:spcAft>
              <a:defRPr sz="950">
                <a:solidFill>
                  <a:srgbClr val="A0AFCD"/>
                </a:solidFill>
                <a:latin typeface="Aptos"/>
              </a:defRPr>
            </a:pPr>
            <a:r>
              <a:t>ensemble + threshold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55280" y="2834640"/>
            <a:ext cx="256032" cy="0"/>
          </a:xfrm>
          <a:prstGeom prst="line">
            <a:avLst/>
          </a:prstGeom>
          <a:ln w="21590">
            <a:solidFill>
              <a:srgbClr val="A0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29600" y="1874519"/>
            <a:ext cx="1627632" cy="19202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874519"/>
            <a:ext cx="54864" cy="19202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2011679"/>
            <a:ext cx="1307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05</a:t>
            </a:r>
            <a:br/>
            <a:r>
              <a:t>Servis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404872"/>
            <a:ext cx="1307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A0AFCD"/>
                </a:solidFill>
                <a:latin typeface="Aptos"/>
              </a:defRPr>
            </a:pPr>
            <a:r>
              <a:t>FastAPI /predict</a:t>
            </a:r>
          </a:p>
          <a:p>
            <a:pPr>
              <a:spcAft>
                <a:spcPts val="300"/>
              </a:spcAft>
              <a:defRPr sz="950">
                <a:solidFill>
                  <a:srgbClr val="A0AFCD"/>
                </a:solidFill>
                <a:latin typeface="Aptos"/>
              </a:defRPr>
            </a:pPr>
            <a:r>
              <a:t>/explain /metrics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75520" y="2834640"/>
            <a:ext cx="256032" cy="0"/>
          </a:xfrm>
          <a:prstGeom prst="line">
            <a:avLst/>
          </a:prstGeom>
          <a:ln w="21590">
            <a:solidFill>
              <a:srgbClr val="A0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49840" y="1874519"/>
            <a:ext cx="1627632" cy="19202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49840" y="1874519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14432" y="2011679"/>
            <a:ext cx="1307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06</a:t>
            </a:r>
            <a:br/>
            <a:r>
              <a:t>Sunum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4432" y="2404872"/>
            <a:ext cx="1307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A0AFCD"/>
                </a:solidFill>
                <a:latin typeface="Aptos"/>
              </a:defRPr>
            </a:pPr>
            <a:r>
              <a:t>XAI paneli</a:t>
            </a:r>
          </a:p>
          <a:p>
            <a:pPr>
              <a:spcAft>
                <a:spcPts val="300"/>
              </a:spcAft>
              <a:defRPr sz="950">
                <a:solidFill>
                  <a:srgbClr val="A0AFCD"/>
                </a:solidFill>
                <a:latin typeface="Aptos"/>
              </a:defRPr>
            </a:pPr>
            <a:r>
              <a:t>3D jüri demosu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4343400"/>
            <a:ext cx="3337560" cy="132588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343400"/>
            <a:ext cx="54864" cy="13258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" y="44805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Skor Stratejisi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4873752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0AFCD"/>
                </a:solidFill>
                <a:latin typeface="Aptos"/>
              </a:defRPr>
            </a:pPr>
            <a:r>
              <a:t>Macro-F1 odaklı validation, kategori bazlı eşik arama, hard negative mining ve veri sonrası hızlı deney döngüsü.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4343400"/>
            <a:ext cx="3337560" cy="132588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34840" y="4343400"/>
            <a:ext cx="54864" cy="1325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99431" y="44805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Açıklanabilirlik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9431" y="4873752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0AFCD"/>
                </a:solidFill>
                <a:latin typeface="Aptos"/>
              </a:defRPr>
            </a:pPr>
            <a:r>
              <a:t>Feature katkısı + transformer attention görselleştirmesi ile karar gerekçesi sunulur.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4343400"/>
            <a:ext cx="3337560" cy="132588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2440" y="4343400"/>
            <a:ext cx="54864" cy="132588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57031" y="44805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Dağıtım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4873752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0AFCD"/>
                </a:solidFill>
                <a:latin typeface="Aptos"/>
              </a:defRPr>
            </a:pPr>
            <a:r>
              <a:t>Docker, FastAPI ve offline model yolu ile final ortamına taşınabilir servis mimarisi.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3108960" cy="3108960"/>
          </a:xfrm>
          <a:prstGeom prst="ellipse">
            <a:avLst/>
          </a:prstGeom>
          <a:solidFill>
            <a:srgbClr val="16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937760"/>
            <a:ext cx="3017520" cy="3017520"/>
          </a:xfrm>
          <a:prstGeom prst="ellipse">
            <a:avLst/>
          </a:prstGeom>
          <a:solidFill>
            <a:srgbClr val="24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28600"/>
            <a:ext cx="1536192" cy="384048"/>
          </a:xfrm>
          <a:prstGeom prst="roundRect">
            <a:avLst/>
          </a:prstGeom>
          <a:solidFill>
            <a:srgbClr val="1025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Deep-Pipeline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D"/>
                </a:solidFill>
                <a:latin typeface="Aptos"/>
              </a:defRPr>
            </a:pPr>
            <a:r>
              <a:t>TEKNOFEST 2026 E-Ticaret Hackathonu  •  Takım Tanıtım Dosyası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 Display"/>
              </a:defRPr>
            </a:pPr>
            <a:r>
              <a:t>Özgünlük ve Güçlü Yanlar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533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FCD"/>
                </a:solidFill>
                <a:latin typeface="Aptos"/>
              </a:defRPr>
            </a:pPr>
            <a:r>
              <a:t>Deep-Pipeline yalnızca model değil; jüriye gösterilebilir mühendislik sistemi.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5166360" cy="1115568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37360"/>
            <a:ext cx="54864" cy="111556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874519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 Display"/>
              </a:defRPr>
            </a:pPr>
            <a:r>
              <a:t>Türkçe E-Ticaret NLP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267712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0AFCD"/>
                </a:solidFill>
                <a:latin typeface="Aptos"/>
              </a:defRPr>
            </a:pPr>
            <a:r>
              <a:t>İ/ı dönüşümü, yazım hatası düzeltme, morfolojik analiz ve e-ticaret sözlüğü.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166360" cy="1115568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737360"/>
            <a:ext cx="54864" cy="111556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1874519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 Display"/>
              </a:defRPr>
            </a:pPr>
            <a:r>
              <a:t>Hard Negative Mining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267712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0AFCD"/>
                </a:solidFill>
                <a:latin typeface="Aptos"/>
              </a:defRPr>
            </a:pPr>
            <a:r>
              <a:t>Modelin en çok karıştırdığı yakın ama yanlış ürünleri eğitim sinyaline dönüştürme.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54680"/>
            <a:ext cx="5166360" cy="1115568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154680"/>
            <a:ext cx="54864" cy="111556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2918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 Display"/>
              </a:defRPr>
            </a:pPr>
            <a:r>
              <a:t>Cross-Encoder + Ensemble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685032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0AFCD"/>
                </a:solidFill>
                <a:latin typeface="Aptos"/>
              </a:defRPr>
            </a:pPr>
            <a:r>
              <a:t>Sorgu–ürün çiftini birlikte okuyan semantik model; özellik tabanlı sinyallerle güçlendirme.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154680"/>
            <a:ext cx="5166360" cy="1115568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154680"/>
            <a:ext cx="54864" cy="1115568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1" y="32918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 Display"/>
              </a:defRPr>
            </a:pPr>
            <a:r>
              <a:t>Açıklanabilir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3685032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0AFCD"/>
                </a:solidFill>
                <a:latin typeface="Aptos"/>
              </a:defRPr>
            </a:pPr>
            <a:r>
              <a:t>Jüri demosunda “neden bu karar?” sorusuna feature ve attention katmanı ile cevap.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572000"/>
            <a:ext cx="5166360" cy="1115568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572000"/>
            <a:ext cx="54864" cy="111556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7091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 Display"/>
              </a:defRPr>
            </a:pPr>
            <a:r>
              <a:t>MLOps Disiplini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5102352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0AFCD"/>
                </a:solidFill>
                <a:latin typeface="Aptos"/>
              </a:defRPr>
            </a:pPr>
            <a:r>
              <a:t>YAML config, MLflow deney takibi, testler, Docker ve yeniden üretilebilir komutlar.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572000"/>
            <a:ext cx="5166360" cy="1115568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572000"/>
            <a:ext cx="54864" cy="111556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1" y="47091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 Display"/>
              </a:defRPr>
            </a:pPr>
            <a:r>
              <a:t>Sunum Stratejisi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1" y="5102352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A0AFCD"/>
                </a:solidFill>
                <a:latin typeface="Aptos"/>
              </a:defRPr>
            </a:pPr>
            <a:r>
              <a:t>Teknik doğruluk, kullanıcı hikâyesi ve canlı demo aynı anlatı içinde.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3108960" cy="3108960"/>
          </a:xfrm>
          <a:prstGeom prst="ellipse">
            <a:avLst/>
          </a:prstGeom>
          <a:solidFill>
            <a:srgbClr val="16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937760"/>
            <a:ext cx="3017520" cy="3017520"/>
          </a:xfrm>
          <a:prstGeom prst="ellipse">
            <a:avLst/>
          </a:prstGeom>
          <a:solidFill>
            <a:srgbClr val="24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28600"/>
            <a:ext cx="1536192" cy="384048"/>
          </a:xfrm>
          <a:prstGeom prst="roundRect">
            <a:avLst/>
          </a:prstGeom>
          <a:solidFill>
            <a:srgbClr val="1025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Deep-Pipeline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D"/>
                </a:solidFill>
                <a:latin typeface="Aptos"/>
              </a:defRPr>
            </a:pPr>
            <a:r>
              <a:t>TEKNOFEST 2026 E-Ticaret Hackathonu  •  Takım Tanıtım Dosyası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 Display"/>
              </a:defRPr>
            </a:pPr>
            <a:r>
              <a:t>Mevcut Durum ve Kanıtlar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533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FCD"/>
                </a:solidFill>
                <a:latin typeface="Aptos"/>
              </a:defRPr>
            </a:pPr>
            <a:r>
              <a:t>Başvuru tamamlandı; teknik altyapı veri seti açıklanınca çalıştırılmaya hazır.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91640"/>
            <a:ext cx="3520440" cy="10058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691640"/>
            <a:ext cx="54864" cy="10058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8288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KYS Başvuru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2219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0AFCD"/>
                </a:solidFill>
                <a:latin typeface="Aptos"/>
              </a:defRPr>
            </a:pPr>
            <a:r>
              <a:t>Kayıt, takım kurulumu ve başvuru tamamlandı. Google Group takibi başladı.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691640"/>
            <a:ext cx="3520440" cy="10058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691640"/>
            <a:ext cx="54864" cy="1005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8288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Repo Altyapısı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2219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0AFCD"/>
                </a:solidFill>
                <a:latin typeface="Aptos"/>
              </a:defRPr>
            </a:pPr>
            <a:r>
              <a:t>src/ tabanlı modüler yapı; data, training, evaluation, deployment ve xai modülleri.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691640"/>
            <a:ext cx="3520440" cy="10058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1691640"/>
            <a:ext cx="54864" cy="10058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18288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Test /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2219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0AFCD"/>
                </a:solidFill>
                <a:latin typeface="Aptos"/>
              </a:defRPr>
            </a:pPr>
            <a:r>
              <a:t>FastAPI uçları, label testleri ve pipeline komutları ile doğrulanabilir yapı.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461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8FF"/>
                </a:solidFill>
                <a:latin typeface="Aptos"/>
              </a:defRPr>
            </a:pPr>
            <a:r>
              <a:t>Yakın Yol Haritası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822191"/>
            <a:ext cx="1051560" cy="347472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1222"/>
                </a:solidFill>
                <a:latin typeface="Aptos"/>
              </a:defRPr>
            </a:pPr>
            <a:r>
              <a:t>18–19 Haz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297680"/>
            <a:ext cx="2331720" cy="12344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4297680"/>
            <a:ext cx="54864" cy="1234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1" y="443484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F"/>
                </a:solidFill>
                <a:latin typeface="Aptos Display"/>
              </a:defRPr>
            </a:pPr>
            <a:r>
              <a:t>Aşama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" y="4828032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69">
                <a:solidFill>
                  <a:srgbClr val="A0AFCD"/>
                </a:solidFill>
                <a:latin typeface="Aptos"/>
              </a:defRPr>
            </a:pPr>
            <a:r>
              <a:t>Takım tanıtımı, görev netliği, KYS dosyaları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27832" y="4919472"/>
            <a:ext cx="384048" cy="0"/>
          </a:xfrm>
          <a:prstGeom prst="line">
            <a:avLst/>
          </a:prstGeom>
          <a:ln w="25400">
            <a:solidFill>
              <a:srgbClr val="A0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657600" y="3822191"/>
            <a:ext cx="1051560" cy="347472"/>
          </a:xfrm>
          <a:prstGeom prst="roundRect">
            <a:avLst/>
          </a:prstGeom>
          <a:solidFill>
            <a:srgbClr val="00D2FF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1222"/>
                </a:solidFill>
                <a:latin typeface="Aptos"/>
              </a:defRPr>
            </a:pPr>
            <a:r>
              <a:t>26 Haz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4297680"/>
            <a:ext cx="2331720" cy="12344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4297680"/>
            <a:ext cx="54864" cy="12344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22191" y="443484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F"/>
                </a:solidFill>
                <a:latin typeface="Aptos Display"/>
              </a:defRPr>
            </a:pPr>
            <a:r>
              <a:t>Veri Açılışı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2191" y="4828032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69">
                <a:solidFill>
                  <a:srgbClr val="A0AFCD"/>
                </a:solidFill>
                <a:latin typeface="Aptos"/>
              </a:defRPr>
            </a:pPr>
            <a:r>
              <a:t>Kaggle train/test hazırlama ve baseline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16752" y="4919472"/>
            <a:ext cx="384048" cy="0"/>
          </a:xfrm>
          <a:prstGeom prst="line">
            <a:avLst/>
          </a:prstGeom>
          <a:ln w="25400">
            <a:solidFill>
              <a:srgbClr val="A0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446520" y="3822191"/>
            <a:ext cx="1051560" cy="347472"/>
          </a:xfrm>
          <a:prstGeom prst="roundRect">
            <a:avLst/>
          </a:prstGeom>
          <a:solidFill>
            <a:srgbClr val="7C4DFF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1222"/>
                </a:solidFill>
                <a:latin typeface="Aptos"/>
              </a:defRPr>
            </a:pPr>
            <a:r>
              <a:t>Temmuz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4297680"/>
            <a:ext cx="2331720" cy="12344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46520" y="4297680"/>
            <a:ext cx="54864" cy="123444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11112" y="443484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F"/>
                </a:solidFill>
                <a:latin typeface="Aptos Display"/>
              </a:defRPr>
            </a:pPr>
            <a:r>
              <a:t>Skor Artırımı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4828032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69">
                <a:solidFill>
                  <a:srgbClr val="A0AFCD"/>
                </a:solidFill>
                <a:latin typeface="Aptos"/>
              </a:defRPr>
            </a:pPr>
            <a:r>
              <a:t>CV, threshold, ensemble, ablation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05672" y="4919472"/>
            <a:ext cx="384048" cy="0"/>
          </a:xfrm>
          <a:prstGeom prst="line">
            <a:avLst/>
          </a:prstGeom>
          <a:ln w="25400">
            <a:solidFill>
              <a:srgbClr val="A0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35439" y="3822191"/>
            <a:ext cx="1051560" cy="347472"/>
          </a:xfrm>
          <a:prstGeom prst="roundRect">
            <a:avLst/>
          </a:prstGeom>
          <a:solidFill>
            <a:srgbClr val="FFB84D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A1222"/>
                </a:solidFill>
                <a:latin typeface="Aptos"/>
              </a:defRPr>
            </a:pPr>
            <a:r>
              <a:t>Final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39" y="4297680"/>
            <a:ext cx="2331720" cy="12344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5439" y="4297680"/>
            <a:ext cx="54864" cy="123444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1" y="443484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F"/>
                </a:solidFill>
                <a:latin typeface="Aptos Display"/>
              </a:defRPr>
            </a:pPr>
            <a:r>
              <a:t>Jüri Demosu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0031" y="4828032"/>
            <a:ext cx="2011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69">
                <a:solidFill>
                  <a:srgbClr val="A0AFCD"/>
                </a:solidFill>
                <a:latin typeface="Aptos"/>
              </a:defRPr>
            </a:pPr>
            <a:r>
              <a:t>XAI, latency, rapor ve canlı sunum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87044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FCD"/>
                </a:solidFill>
                <a:latin typeface="Aptos"/>
              </a:defRPr>
            </a:pPr>
            <a:r>
              <a:t>Not: Gerçek yarışma verisi açıklanana kadar performans metrikleri iddia değil, veri sonrası ölçülecek hedef olarak ele alınır.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3108960" cy="3108960"/>
          </a:xfrm>
          <a:prstGeom prst="ellipse">
            <a:avLst/>
          </a:prstGeom>
          <a:solidFill>
            <a:srgbClr val="16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937760"/>
            <a:ext cx="3017520" cy="3017520"/>
          </a:xfrm>
          <a:prstGeom prst="ellipse">
            <a:avLst/>
          </a:prstGeom>
          <a:solidFill>
            <a:srgbClr val="24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28600"/>
            <a:ext cx="1536192" cy="384048"/>
          </a:xfrm>
          <a:prstGeom prst="roundRect">
            <a:avLst/>
          </a:prstGeom>
          <a:solidFill>
            <a:srgbClr val="1025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Deep-Pipeline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D"/>
                </a:solidFill>
                <a:latin typeface="Aptos"/>
              </a:defRPr>
            </a:pPr>
            <a:r>
              <a:t>TEKNOFEST 2026 E-Ticaret Hackathonu  •  Takım Tanıtım Dosyası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 Display"/>
              </a:defRPr>
            </a:pPr>
            <a:r>
              <a:t>Takım ve Rol Dağılımı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533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FCD"/>
                </a:solidFill>
                <a:latin typeface="Aptos"/>
              </a:defRPr>
            </a:pPr>
            <a:r>
              <a:t>Öğrenci liderliğinde, danışman gözetimli ve görevleri izlenebilir bir çalışma modeli.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5166360" cy="361188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37360"/>
            <a:ext cx="54864" cy="36118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874519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F"/>
                </a:solidFill>
                <a:latin typeface="Aptos Display"/>
              </a:defRPr>
            </a:pPr>
            <a:r>
              <a:t>Ömer Mahmut Evren</a:t>
            </a:r>
            <a:br/>
            <a:r>
              <a:t>Takım Kaptanı • ML/System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267712"/>
            <a:ext cx="4846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A0AFCD"/>
                </a:solidFill>
                <a:latin typeface="Aptos"/>
              </a:defRPr>
            </a:pPr>
            <a:r>
              <a:t>• Proje vizyonu ve teknik kararların ana sorumlusu</a:t>
            </a:r>
          </a:p>
          <a:p>
            <a:pPr>
              <a:spcAft>
                <a:spcPts val="300"/>
              </a:spcAft>
              <a:defRPr sz="1200">
                <a:solidFill>
                  <a:srgbClr val="A0AFCD"/>
                </a:solidFill>
                <a:latin typeface="Aptos"/>
              </a:defRPr>
            </a:pPr>
            <a:r>
              <a:t>• Model mimarisi, training pipeline ve Kaggle stratejisi</a:t>
            </a:r>
          </a:p>
          <a:p>
            <a:pPr>
              <a:spcAft>
                <a:spcPts val="300"/>
              </a:spcAft>
              <a:defRPr sz="1200">
                <a:solidFill>
                  <a:srgbClr val="A0AFCD"/>
                </a:solidFill>
                <a:latin typeface="Aptos"/>
              </a:defRPr>
            </a:pPr>
            <a:r>
              <a:t>• Repo mimarisi, deney planı, rapor ve jüri anlatısının sahibi</a:t>
            </a:r>
          </a:p>
          <a:p>
            <a:pPr>
              <a:spcAft>
                <a:spcPts val="300"/>
              </a:spcAft>
              <a:defRPr sz="1200">
                <a:solidFill>
                  <a:srgbClr val="A0AFCD"/>
                </a:solidFill>
                <a:latin typeface="Aptos"/>
              </a:defRPr>
            </a:pPr>
            <a:r>
              <a:t>• Final sunumunda teknik akış ve demo liderliği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06040" cy="361188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54864" cy="3611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874519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Ahmet Arat Turmuş</a:t>
            </a:r>
            <a:br/>
            <a:r>
              <a:t>QA &amp; Dokümantasyon Destek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267712"/>
            <a:ext cx="22860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A0AFCD"/>
                </a:solidFill>
                <a:latin typeface="Aptos"/>
              </a:defRPr>
            </a:pPr>
            <a:r>
              <a:t>• Başvuru ve dosya kontrol checklist’i</a:t>
            </a:r>
          </a:p>
          <a:p>
            <a:pPr>
              <a:spcAft>
                <a:spcPts val="300"/>
              </a:spcAft>
              <a:defRPr sz="1080">
                <a:solidFill>
                  <a:srgbClr val="A0AFCD"/>
                </a:solidFill>
                <a:latin typeface="Aptos"/>
              </a:defRPr>
            </a:pPr>
            <a:r>
              <a:t>• Çalıştırma adımlarını bağımsız doğrulama</a:t>
            </a:r>
          </a:p>
          <a:p>
            <a:pPr>
              <a:spcAft>
                <a:spcPts val="300"/>
              </a:spcAft>
              <a:defRPr sz="1080">
                <a:solidFill>
                  <a:srgbClr val="A0AFCD"/>
                </a:solidFill>
                <a:latin typeface="Aptos"/>
              </a:defRPr>
            </a:pPr>
            <a:r>
              <a:t>• Sunum provasında izleyici gözüyle geri bildirim</a:t>
            </a:r>
          </a:p>
          <a:p>
            <a:pPr>
              <a:spcAft>
                <a:spcPts val="300"/>
              </a:spcAft>
              <a:defRPr sz="1080">
                <a:solidFill>
                  <a:srgbClr val="A0AFCD"/>
                </a:solidFill>
                <a:latin typeface="Aptos"/>
              </a:defRPr>
            </a:pPr>
            <a:r>
              <a:t>• Final/ödül aşamasında takım temsili desteği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737360"/>
            <a:ext cx="2606040" cy="361188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737360"/>
            <a:ext cx="54864" cy="361188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1874519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Mustafa Gökmen</a:t>
            </a:r>
            <a:br/>
            <a:r>
              <a:t>Danışman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267712"/>
            <a:ext cx="22860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A0AFCD"/>
                </a:solidFill>
                <a:latin typeface="Aptos"/>
              </a:defRPr>
            </a:pPr>
            <a:r>
              <a:t>• Lise takımı için danışmanlık ve süreç takibi</a:t>
            </a:r>
          </a:p>
          <a:p>
            <a:pPr>
              <a:spcAft>
                <a:spcPts val="300"/>
              </a:spcAft>
              <a:defRPr sz="1080">
                <a:solidFill>
                  <a:srgbClr val="A0AFCD"/>
                </a:solidFill>
                <a:latin typeface="Aptos"/>
              </a:defRPr>
            </a:pPr>
            <a:r>
              <a:t>• Etik, gizlilik ve şartname uyumluluğu kontrolü</a:t>
            </a:r>
          </a:p>
          <a:p>
            <a:pPr>
              <a:spcAft>
                <a:spcPts val="300"/>
              </a:spcAft>
              <a:defRPr sz="1080">
                <a:solidFill>
                  <a:srgbClr val="A0AFCD"/>
                </a:solidFill>
                <a:latin typeface="Aptos"/>
              </a:defRPr>
            </a:pPr>
            <a:r>
              <a:t>• Takvim, risk ve resmi iletişim gözetimi</a:t>
            </a:r>
          </a:p>
          <a:p>
            <a:pPr>
              <a:spcAft>
                <a:spcPts val="300"/>
              </a:spcAft>
              <a:defRPr sz="1080">
                <a:solidFill>
                  <a:srgbClr val="A0AFCD"/>
                </a:solidFill>
                <a:latin typeface="Aptos"/>
              </a:defRPr>
            </a:pPr>
            <a:r>
              <a:t>• Final hazırlığında mentorluk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Çalışma prensibi: Ömer liderliğinde hızlı karar alma; diğer roller düşük yoğunluklu ama gerçek, kontrol edilebilir ve jüriye açıklanabilir katkılar üretir.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3108960" cy="3108960"/>
          </a:xfrm>
          <a:prstGeom prst="ellipse">
            <a:avLst/>
          </a:prstGeom>
          <a:solidFill>
            <a:srgbClr val="16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937760"/>
            <a:ext cx="3017520" cy="3017520"/>
          </a:xfrm>
          <a:prstGeom prst="ellipse">
            <a:avLst/>
          </a:prstGeom>
          <a:solidFill>
            <a:srgbClr val="24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28600"/>
            <a:ext cx="1536192" cy="384048"/>
          </a:xfrm>
          <a:prstGeom prst="roundRect">
            <a:avLst/>
          </a:prstGeom>
          <a:solidFill>
            <a:srgbClr val="1025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Deep-Pipeline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D"/>
                </a:solidFill>
                <a:latin typeface="Aptos"/>
              </a:defRPr>
            </a:pPr>
            <a:r>
              <a:t>TEKNOFEST 2026 E-Ticaret Hackathonu  •  Takım Tanıtım Dosyası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 Display"/>
              </a:defRPr>
            </a:pPr>
            <a:r>
              <a:t>Çalışma Modeli ve Risk Yönetimi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533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FCD"/>
                </a:solidFill>
                <a:latin typeface="Aptos"/>
              </a:defRPr>
            </a:pPr>
            <a:r>
              <a:t>Her aşamada ölçülebilir çıktı, kanıt dosyası ve yedek plan.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91640"/>
            <a:ext cx="3474720" cy="14630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691640"/>
            <a:ext cx="54864" cy="1463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82880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Karar Mekanizması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221992"/>
            <a:ext cx="3154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0AFCD"/>
                </a:solidFill>
                <a:latin typeface="Aptos"/>
              </a:defRPr>
            </a:pPr>
            <a:r>
              <a:t>Teknik kararlar Ömer tarafından alınır; danışman şartname/etik uygunluk kontrolü yapar.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691640"/>
            <a:ext cx="3474720" cy="14630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691640"/>
            <a:ext cx="54864" cy="1463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82880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Kanıt Odaklı Takip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221992"/>
            <a:ext cx="3154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0AFCD"/>
                </a:solidFill>
                <a:latin typeface="Aptos"/>
              </a:defRPr>
            </a:pPr>
            <a:r>
              <a:t>Her kritik adım repo dosyası, rapor, test çıktısı veya submission dosyası ile belgelenir.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691640"/>
            <a:ext cx="3474720" cy="146304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691640"/>
            <a:ext cx="54864" cy="146304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182880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 Display"/>
              </a:defRPr>
            </a:pPr>
            <a:r>
              <a:t>Jüriye Hazırlık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221992"/>
            <a:ext cx="3154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0AFCD"/>
                </a:solidFill>
                <a:latin typeface="Aptos"/>
              </a:defRPr>
            </a:pPr>
            <a:r>
              <a:t>Teknik derinlik ile sade anlatı ayrılır; canlı demo için 5 dakikalık prova akışı hazırlanır.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8FF"/>
                </a:solidFill>
                <a:latin typeface="Aptos"/>
              </a:defRPr>
            </a:pPr>
            <a:r>
              <a:t>Ana Riskler ve Önlemler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160520"/>
            <a:ext cx="2743200" cy="310896"/>
          </a:xfrm>
          <a:prstGeom prst="roundRect">
            <a:avLst/>
          </a:prstGeom>
          <a:solidFill>
            <a:srgbClr val="22304D"/>
          </a:solidFill>
          <a:ln w="12700">
            <a:solidFill>
              <a:srgbClr val="34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Veri gecikmesi / format farkı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197096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FCD"/>
                </a:solidFill>
                <a:latin typeface="Aptos"/>
              </a:defRPr>
            </a:pPr>
            <a:r>
              <a:t>→  prepare_kaggle_data.py tek giriş noktası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599431"/>
            <a:ext cx="2743200" cy="310896"/>
          </a:xfrm>
          <a:prstGeom prst="roundRect">
            <a:avLst/>
          </a:prstGeom>
          <a:solidFill>
            <a:srgbClr val="22304D"/>
          </a:solidFill>
          <a:ln w="12700">
            <a:solidFill>
              <a:srgbClr val="34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Skor belirsizliği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636007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FCD"/>
                </a:solidFill>
                <a:latin typeface="Aptos"/>
              </a:defRPr>
            </a:pPr>
            <a:r>
              <a:t>→  CV + threshold + ablation ile hızlı iterasyon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038344"/>
            <a:ext cx="2743200" cy="310896"/>
          </a:xfrm>
          <a:prstGeom prst="roundRect">
            <a:avLst/>
          </a:prstGeom>
          <a:solidFill>
            <a:srgbClr val="22304D"/>
          </a:solidFill>
          <a:ln w="12700">
            <a:solidFill>
              <a:srgbClr val="34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CPU/GPU limitleri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5074920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FCD"/>
                </a:solidFill>
                <a:latin typeface="Aptos"/>
              </a:defRPr>
            </a:pPr>
            <a:r>
              <a:t>→  DistilBERTurk, quantization ve batch optimizasyonu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477256"/>
            <a:ext cx="2743200" cy="310896"/>
          </a:xfrm>
          <a:prstGeom prst="roundRect">
            <a:avLst/>
          </a:prstGeom>
          <a:solidFill>
            <a:srgbClr val="22304D"/>
          </a:solidFill>
          <a:ln w="12700">
            <a:solidFill>
              <a:srgbClr val="344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Sunumda karmaşıklık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5513832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0AFCD"/>
                </a:solidFill>
                <a:latin typeface="Aptos"/>
              </a:defRPr>
            </a:pPr>
            <a:r>
              <a:t>→  Basit/teknik modlu anlatı ve XAI ekranı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3108960" cy="3108960"/>
          </a:xfrm>
          <a:prstGeom prst="ellipse">
            <a:avLst/>
          </a:prstGeom>
          <a:solidFill>
            <a:srgbClr val="16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937760"/>
            <a:ext cx="3017520" cy="3017520"/>
          </a:xfrm>
          <a:prstGeom prst="ellipse">
            <a:avLst/>
          </a:prstGeom>
          <a:solidFill>
            <a:srgbClr val="241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28600"/>
            <a:ext cx="1536192" cy="384048"/>
          </a:xfrm>
          <a:prstGeom prst="roundRect">
            <a:avLst/>
          </a:prstGeom>
          <a:solidFill>
            <a:srgbClr val="102544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F"/>
                </a:solidFill>
                <a:latin typeface="Aptos"/>
              </a:defRPr>
            </a:pPr>
            <a:r>
              <a:t>Deep-Pipeline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D"/>
                </a:solidFill>
                <a:latin typeface="Aptos"/>
              </a:defRPr>
            </a:pPr>
            <a:r>
              <a:t>TEKNOFEST 2026 E-Ticaret Hackathonu  •  Takım Tanıtım Dosyası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 Display"/>
              </a:defRPr>
            </a:pPr>
            <a:r>
              <a:t>Beklenen Katkı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533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FCD"/>
                </a:solidFill>
                <a:latin typeface="Aptos"/>
              </a:defRPr>
            </a:pPr>
            <a:r>
              <a:t>Arama kalitesini artıran, açıklanabilir ve uygulanabilir bir e-ticaret relevance sistemi.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2331720" cy="1600200"/>
          </a:xfrm>
          <a:prstGeom prst="roundRect">
            <a:avLst/>
          </a:prstGeom>
          <a:solidFill>
            <a:srgbClr val="0F1C34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51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sınıflı alaka kararı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93592" y="1828800"/>
            <a:ext cx="2331720" cy="1600200"/>
          </a:xfrm>
          <a:prstGeom prst="roundRect">
            <a:avLst/>
          </a:prstGeom>
          <a:solidFill>
            <a:srgbClr val="0F1C34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20574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D4BF"/>
                </a:solidFill>
                <a:latin typeface="Aptos"/>
              </a:defRPr>
            </a:pPr>
            <a:r>
              <a:t>≤250ms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2651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hedef p95 servis gecikmesi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1828800"/>
            <a:ext cx="2331720" cy="1600200"/>
          </a:xfrm>
          <a:prstGeom prst="roundRect">
            <a:avLst/>
          </a:prstGeom>
          <a:solidFill>
            <a:srgbClr val="0F1C34"/>
          </a:solidFill>
          <a:ln w="1524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0574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4D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2651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uçtan uca tekrar üretilebilir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26296" y="1828800"/>
            <a:ext cx="2331720" cy="1600200"/>
          </a:xfrm>
          <a:prstGeom prst="roundRect">
            <a:avLst/>
          </a:prstGeom>
          <a:solidFill>
            <a:srgbClr val="0F1C34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20574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B84D"/>
                </a:solidFill>
                <a:latin typeface="Aptos"/>
              </a:defRPr>
            </a:pPr>
            <a:r>
              <a:t>XAI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2651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jüriye açıklanabilir karar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069080"/>
            <a:ext cx="10149840" cy="1097280"/>
          </a:xfrm>
          <a:prstGeom prst="roundRect">
            <a:avLst/>
          </a:prstGeom>
          <a:solidFill>
            <a:srgbClr val="0F1C34"/>
          </a:solidFill>
          <a:ln w="12700">
            <a:solidFill>
              <a:srgbClr val="26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4069080"/>
            <a:ext cx="54864" cy="10972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206240"/>
            <a:ext cx="9829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F"/>
                </a:solidFill>
                <a:latin typeface="Aptos Display"/>
              </a:defRPr>
            </a:pPr>
            <a:r>
              <a:t>Kapanış Mesajı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599432"/>
            <a:ext cx="9829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A0AFCD"/>
                </a:solidFill>
                <a:latin typeface="Aptos"/>
              </a:defRPr>
            </a:pPr>
            <a:r>
              <a:t>Deep-Pipeline; yüksek skor hedefini, şeffaf mühendislik disiplinini ve etkileyici final anlatısını tek bir proje omurgasında birleştirir. Takım yapımızda teknik liderlik net, destek rolleri ise ölçülebilir ve resmi sürece uyumludur.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8FF"/>
                </a:solidFill>
                <a:latin typeface="Aptos"/>
              </a:defRPr>
            </a:pPr>
            <a:r>
              <a:t>Deep-Pipeline • TEKNOFEST 2026 E-Ticaret Hackathonu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6247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0AFCD"/>
                </a:solidFill>
                <a:latin typeface="Aptos"/>
              </a:defRPr>
            </a:pPr>
            <a:r>
              <a:t>GitHub: github.com/oomerevren/deeppipelinedsad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